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95165" y="3874934"/>
            <a:ext cx="5541606" cy="1320704"/>
          </a:xfrm>
        </p:spPr>
        <p:txBody>
          <a:bodyPr vert="horz" lIns="91440" tIns="45720" rIns="91440" bIns="45720" rtlCol="0" anchor="t">
            <a:normAutofit/>
          </a:bodyPr>
          <a:lstStyle/>
          <a:p>
            <a:pPr algn="ctr"/>
            <a:r>
              <a:rPr lang="en-US" b="0" i="1" dirty="0">
                <a:solidFill>
                  <a:schemeClr val="tx1"/>
                </a:solidFill>
              </a:rPr>
              <a:t>NAME- Sakshi Sinha</a:t>
            </a:r>
            <a:endParaRPr lang="en-US" b="0" dirty="0">
              <a:solidFill>
                <a:schemeClr val="tx1"/>
              </a:solidFill>
            </a:endParaRPr>
          </a:p>
          <a:p>
            <a:pPr algn="ctr"/>
            <a:r>
              <a:rPr lang="en-US" b="0" dirty="0">
                <a:solidFill>
                  <a:schemeClr val="tx1"/>
                </a:solidFill>
              </a:rPr>
              <a:t>COLLEGE NAME- University Institute of Technology , RGPV</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82556" y="2519266"/>
            <a:ext cx="8080310" cy="1136232"/>
          </a:xfrm>
        </p:spPr>
        <p:txBody>
          <a:bodyPr>
            <a:normAutofit/>
          </a:bodyPr>
          <a:lstStyle/>
          <a:p>
            <a:pPr algn="ctr"/>
            <a:r>
              <a:rPr lang="en-GB" sz="3200" b="1" u="sng" dirty="0"/>
              <a:t>Project Title -</a:t>
            </a:r>
            <a:r>
              <a:rPr lang="en-US" sz="3200" b="1" u="sng" dirty="0"/>
              <a:t>Seasonal Agriculture   Performance Analysis</a:t>
            </a:r>
            <a:endParaRPr lang="en-IN" sz="3200" b="1" u="sng"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85193" y="5222800"/>
            <a:ext cx="4040154" cy="646331"/>
          </a:xfrm>
          <a:prstGeom prst="rect">
            <a:avLst/>
          </a:prstGeom>
          <a:noFill/>
        </p:spPr>
        <p:txBody>
          <a:bodyPr wrap="square" rtlCol="0">
            <a:spAutoFit/>
          </a:bodyPr>
          <a:lstStyle/>
          <a:p>
            <a:r>
              <a:rPr lang="en-US" b="1" dirty="0"/>
              <a:t>AICTE ID - </a:t>
            </a:r>
            <a:r>
              <a:rPr lang="en-US" dirty="0"/>
              <a:t>STU67dcd471933c21742525553</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87828" y="345233"/>
            <a:ext cx="6643395" cy="1007706"/>
          </a:xfrm>
        </p:spPr>
        <p:txBody>
          <a:bodyPr>
            <a:normAutofit fontScale="90000"/>
          </a:bodyPr>
          <a:lstStyle/>
          <a:p>
            <a:r>
              <a:rPr lang="en-GB" u="sng" dirty="0"/>
              <a:t>Project Description</a:t>
            </a:r>
            <a:br>
              <a:rPr lang="en-GB" dirty="0"/>
            </a:br>
            <a:br>
              <a:rPr lang="en-GB" dirty="0"/>
            </a:br>
            <a:r>
              <a:rPr lang="en-US" sz="2200" dirty="0"/>
              <a:t>Seasonal Agriculture Performance Analysis</a:t>
            </a:r>
            <a:r>
              <a:rPr lang="en-US" sz="2200" b="0" dirty="0"/>
              <a:t> is a data </a:t>
            </a:r>
            <a:br>
              <a:rPr lang="en-US" sz="2200" b="0" dirty="0"/>
            </a:br>
            <a:r>
              <a:rPr lang="en-US" sz="2200" b="0" dirty="0"/>
              <a:t>analysis project designed to evaluate and understand agricultural performance across different seasons, crops, regions, and years. The project uses historical agricultural data such as crop production, cultivated area, yield, rainfall, temperature, and other relevant factors to identify patterns and trends in agricultural productivity.</a:t>
            </a:r>
            <a:br>
              <a:rPr lang="en-US" sz="2200" b="0" dirty="0"/>
            </a:br>
            <a:r>
              <a:rPr lang="en-US" sz="2200" b="0" dirty="0"/>
              <a:t>The analysis focuses on comparing crop performance across </a:t>
            </a:r>
            <a:r>
              <a:rPr lang="en-US" sz="2200" dirty="0"/>
              <a:t>Kharif, Rabi, and other agricultural seasons</a:t>
            </a:r>
            <a:r>
              <a:rPr lang="en-US" sz="2200" b="0" dirty="0"/>
              <a:t>, identifying high- and low-performing crops, and examining how climatic and regional factors influence production and yield. Data visualization techniques such as bar charts, line graphs, heatmaps, and interactive dashboards can be used to present the findings clearly.</a:t>
            </a:r>
            <a:br>
              <a:rPr lang="en-US" sz="2200" b="0"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73225" y="867748"/>
            <a:ext cx="8252616" cy="5113636"/>
          </a:xfrm>
        </p:spPr>
        <p:txBody>
          <a:bodyPr>
            <a:normAutofit fontScale="85000" lnSpcReduction="10000"/>
          </a:bodyPr>
          <a:lstStyle/>
          <a:p>
            <a:r>
              <a:rPr lang="en-US" dirty="0"/>
              <a:t>The main end users of this project can be:</a:t>
            </a:r>
          </a:p>
          <a:p>
            <a:pPr lvl="0"/>
            <a:r>
              <a:rPr lang="en-US" b="1" dirty="0"/>
              <a:t>Farmers</a:t>
            </a:r>
            <a:r>
              <a:rPr lang="en-US" dirty="0"/>
              <a:t> – To understand which crops perform better in different seasons and regions and make informed crop-selection decisions.</a:t>
            </a:r>
          </a:p>
          <a:p>
            <a:pPr lvl="0"/>
            <a:r>
              <a:rPr lang="en-US" b="1" dirty="0"/>
              <a:t>Agricultural Officers</a:t>
            </a:r>
            <a:r>
              <a:rPr lang="en-US" dirty="0"/>
              <a:t> – To monitor crop performance and identify areas that require support or intervention.</a:t>
            </a:r>
          </a:p>
          <a:p>
            <a:pPr lvl="0"/>
            <a:r>
              <a:rPr lang="en-US" b="1" dirty="0"/>
              <a:t>Government &amp; Policymakers</a:t>
            </a:r>
            <a:r>
              <a:rPr lang="en-US" dirty="0"/>
              <a:t> – To use agricultural trends for planning subsidies, irrigation programs, crop insurance, and agricultural policies.</a:t>
            </a:r>
          </a:p>
          <a:p>
            <a:pPr lvl="0"/>
            <a:r>
              <a:rPr lang="en-US" b="1" dirty="0"/>
              <a:t>Agricultural Researchers</a:t>
            </a:r>
            <a:r>
              <a:rPr lang="en-US" dirty="0"/>
              <a:t> – To study seasonal patterns, crop productivity, and factors affecting agricultural performance.</a:t>
            </a:r>
          </a:p>
          <a:p>
            <a:pPr lvl="0"/>
            <a:r>
              <a:rPr lang="en-US" b="1" dirty="0"/>
              <a:t>Agribusiness Companies</a:t>
            </a:r>
            <a:r>
              <a:rPr lang="en-US" dirty="0"/>
              <a:t> – To analyze production trends and support decisions related to procurement, supply chains, and market planning.</a:t>
            </a:r>
          </a:p>
          <a:p>
            <a:pPr lvl="0"/>
            <a:r>
              <a:rPr lang="en-US" b="1" dirty="0"/>
              <a:t>Agricultural Consultants</a:t>
            </a:r>
            <a:r>
              <a:rPr lang="en-US" dirty="0"/>
              <a:t> – To provide data-driven recommendations on crop selection and seasonal farming strategies.</a:t>
            </a:r>
          </a:p>
          <a:p>
            <a:pPr lvl="0"/>
            <a:r>
              <a:rPr lang="en-US" b="1" dirty="0"/>
              <a:t>Students &amp; Data Analysts</a:t>
            </a:r>
            <a:r>
              <a:rPr lang="en-US" dirty="0"/>
              <a:t> – To study agricultural datasets, trends, correlations, and data visualization techniques.</a:t>
            </a:r>
          </a:p>
          <a:p>
            <a:pPr lvl="0"/>
            <a:r>
              <a:rPr lang="en-US" b="1" dirty="0"/>
              <a:t>NGOs &amp; Rural Development Organizations</a:t>
            </a:r>
            <a:r>
              <a:rPr lang="en-US" dirty="0"/>
              <a:t> – To identify regions or farming communities that may need agricultural assistance.</a:t>
            </a:r>
          </a:p>
          <a:p>
            <a:pPr algn="just">
              <a:lnSpc>
                <a:spcPct val="150000"/>
              </a:lnSpc>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52057" y="19542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54474" y="3847976"/>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68964" y="972872"/>
            <a:ext cx="8154953" cy="5885128"/>
          </a:xfrm>
        </p:spPr>
        <p:txBody>
          <a:bodyPr>
            <a:noAutofit/>
          </a:bodyPr>
          <a:lstStyle/>
          <a:p>
            <a:r>
              <a:rPr lang="en-US" dirty="0"/>
              <a:t>The project can be developed using the following technologies:</a:t>
            </a:r>
          </a:p>
          <a:p>
            <a:pPr lvl="0"/>
            <a:r>
              <a:rPr lang="en-US" b="1" dirty="0"/>
              <a:t>Python</a:t>
            </a:r>
            <a:r>
              <a:rPr lang="en-US" dirty="0"/>
              <a:t> – For data cleaning, processing, statistical analysis, and predictive analysis.</a:t>
            </a:r>
          </a:p>
          <a:p>
            <a:pPr lvl="0"/>
            <a:r>
              <a:rPr lang="en-US" b="1" dirty="0"/>
              <a:t>Pandas</a:t>
            </a:r>
            <a:r>
              <a:rPr lang="en-US" dirty="0"/>
              <a:t> – For handling and analyzing agricultural datasets.</a:t>
            </a:r>
          </a:p>
          <a:p>
            <a:pPr lvl="0"/>
            <a:r>
              <a:rPr lang="en-US" b="1" dirty="0"/>
              <a:t>NumPy</a:t>
            </a:r>
            <a:r>
              <a:rPr lang="en-US" dirty="0"/>
              <a:t> – For numerical calculations and data manipulation.</a:t>
            </a:r>
          </a:p>
          <a:p>
            <a:pPr lvl="0"/>
            <a:r>
              <a:rPr lang="en-US" b="1" dirty="0"/>
              <a:t>Matplotlib &amp; Seaborn</a:t>
            </a:r>
            <a:r>
              <a:rPr lang="en-US" dirty="0"/>
              <a:t> – For creating graphs, charts, and visualizations....</a:t>
            </a:r>
          </a:p>
          <a:p>
            <a:pPr lvl="0"/>
            <a:r>
              <a:rPr lang="en-US" b="1" dirty="0"/>
              <a:t>Jupyter Notebook</a:t>
            </a:r>
            <a:r>
              <a:rPr lang="en-US" dirty="0"/>
              <a:t> – For data exploration, analysis, and documentation.</a:t>
            </a:r>
          </a:p>
          <a:p>
            <a:pPr lvl="0"/>
            <a:r>
              <a:rPr lang="en-US" b="1" dirty="0"/>
              <a:t>Excel / CSV</a:t>
            </a:r>
            <a:r>
              <a:rPr lang="en-US" dirty="0"/>
              <a:t> – For collecting, importing, and initially organizing agricultural datasets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576423" y="27816"/>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0"/>
            <a:ext cx="8300504" cy="538958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2A5BB6F-586B-46B0-3791-B770D4FEE5A6}"/>
              </a:ext>
            </a:extLst>
          </p:cNvPr>
          <p:cNvPicPr>
            <a:picLocks noChangeAspect="1"/>
          </p:cNvPicPr>
          <p:nvPr/>
        </p:nvPicPr>
        <p:blipFill>
          <a:blip r:embed="rId3"/>
          <a:stretch>
            <a:fillRect/>
          </a:stretch>
        </p:blipFill>
        <p:spPr>
          <a:xfrm>
            <a:off x="675956" y="1335695"/>
            <a:ext cx="7945529" cy="540304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2388637" y="1431693"/>
            <a:ext cx="5449077" cy="3233613"/>
          </a:xfrm>
        </p:spPr>
        <p:txBody>
          <a:bodyPr/>
          <a:lstStyle/>
          <a:p>
            <a:pPr marL="0" indent="0">
              <a:buNone/>
            </a:pPr>
            <a:endParaRPr lang="en-IN" dirty="0"/>
          </a:p>
        </p:txBody>
      </p:sp>
      <p:pic>
        <p:nvPicPr>
          <p:cNvPr id="3" name="Picture 2">
            <a:extLst>
              <a:ext uri="{FF2B5EF4-FFF2-40B4-BE49-F238E27FC236}">
                <a16:creationId xmlns:a16="http://schemas.microsoft.com/office/drawing/2014/main" id="{380D19F0-A92D-B8F1-6D7A-81A592B648E2}"/>
              </a:ext>
            </a:extLst>
          </p:cNvPr>
          <p:cNvPicPr>
            <a:picLocks noChangeAspect="1"/>
          </p:cNvPicPr>
          <p:nvPr/>
        </p:nvPicPr>
        <p:blipFill>
          <a:blip r:embed="rId3"/>
          <a:stretch>
            <a:fillRect/>
          </a:stretch>
        </p:blipFill>
        <p:spPr>
          <a:xfrm>
            <a:off x="555236" y="1431693"/>
            <a:ext cx="8932977" cy="391591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51D8AD8B-86BA-E9AD-8651-2164445A8CF8}"/>
              </a:ext>
            </a:extLst>
          </p:cNvPr>
          <p:cNvPicPr>
            <a:picLocks noChangeAspect="1"/>
          </p:cNvPicPr>
          <p:nvPr/>
        </p:nvPicPr>
        <p:blipFill>
          <a:blip r:embed="rId3"/>
          <a:stretch>
            <a:fillRect/>
          </a:stretch>
        </p:blipFill>
        <p:spPr>
          <a:xfrm>
            <a:off x="470880" y="1431693"/>
            <a:ext cx="7482372" cy="399461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BC065A49-557B-B229-E8D2-BC884DF6A15D}"/>
              </a:ext>
            </a:extLst>
          </p:cNvPr>
          <p:cNvPicPr>
            <a:picLocks noChangeAspect="1"/>
          </p:cNvPicPr>
          <p:nvPr/>
        </p:nvPicPr>
        <p:blipFill>
          <a:blip r:embed="rId3"/>
          <a:stretch>
            <a:fillRect/>
          </a:stretch>
        </p:blipFill>
        <p:spPr>
          <a:xfrm>
            <a:off x="675957" y="1324414"/>
            <a:ext cx="7578414" cy="431280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9" name="Picture 8">
            <a:extLst>
              <a:ext uri="{FF2B5EF4-FFF2-40B4-BE49-F238E27FC236}">
                <a16:creationId xmlns:a16="http://schemas.microsoft.com/office/drawing/2014/main" id="{FABF85EC-F096-4195-1486-7C27DBC9B5DA}"/>
              </a:ext>
            </a:extLst>
          </p:cNvPr>
          <p:cNvPicPr>
            <a:picLocks noChangeAspect="1"/>
          </p:cNvPicPr>
          <p:nvPr/>
        </p:nvPicPr>
        <p:blipFill>
          <a:blip r:embed="rId3"/>
          <a:stretch>
            <a:fillRect/>
          </a:stretch>
        </p:blipFill>
        <p:spPr>
          <a:xfrm>
            <a:off x="716390" y="1275372"/>
            <a:ext cx="8428827" cy="445668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A2516D-36F1-36EB-0351-B1B55509E1BD}"/>
              </a:ext>
            </a:extLst>
          </p:cNvPr>
          <p:cNvSpPr>
            <a:spLocks noGrp="1"/>
          </p:cNvSpPr>
          <p:nvPr>
            <p:ph type="body" sz="quarter" idx="12"/>
          </p:nvPr>
        </p:nvSpPr>
        <p:spPr/>
        <p:txBody>
          <a:bodyPr/>
          <a:lstStyle/>
          <a:p>
            <a:endParaRPr lang="en-US" dirty="0"/>
          </a:p>
        </p:txBody>
      </p:sp>
      <p:sp>
        <p:nvSpPr>
          <p:cNvPr id="4" name="Title 3">
            <a:extLst>
              <a:ext uri="{FF2B5EF4-FFF2-40B4-BE49-F238E27FC236}">
                <a16:creationId xmlns:a16="http://schemas.microsoft.com/office/drawing/2014/main" id="{E6B5C9CB-93FB-5E1B-E135-1777F9DFB91E}"/>
              </a:ext>
            </a:extLst>
          </p:cNvPr>
          <p:cNvSpPr>
            <a:spLocks noGrp="1"/>
          </p:cNvSpPr>
          <p:nvPr>
            <p:ph type="title"/>
          </p:nvPr>
        </p:nvSpPr>
        <p:spPr/>
        <p:txBody>
          <a:bodyPr/>
          <a:lstStyle/>
          <a:p>
            <a:r>
              <a:rPr lang="en-US" dirty="0"/>
              <a:t>RESULTS</a:t>
            </a:r>
          </a:p>
        </p:txBody>
      </p:sp>
      <p:pic>
        <p:nvPicPr>
          <p:cNvPr id="6" name="Picture 5">
            <a:extLst>
              <a:ext uri="{FF2B5EF4-FFF2-40B4-BE49-F238E27FC236}">
                <a16:creationId xmlns:a16="http://schemas.microsoft.com/office/drawing/2014/main" id="{29F69DAB-7DAE-EB67-AAAF-7687FA50FC67}"/>
              </a:ext>
            </a:extLst>
          </p:cNvPr>
          <p:cNvPicPr>
            <a:picLocks noChangeAspect="1"/>
          </p:cNvPicPr>
          <p:nvPr/>
        </p:nvPicPr>
        <p:blipFill>
          <a:blip r:embed="rId2"/>
          <a:stretch>
            <a:fillRect/>
          </a:stretch>
        </p:blipFill>
        <p:spPr>
          <a:xfrm>
            <a:off x="660400" y="1707581"/>
            <a:ext cx="7852472" cy="4268834"/>
          </a:xfrm>
          <a:prstGeom prst="rect">
            <a:avLst/>
          </a:prstGeom>
        </p:spPr>
      </p:pic>
    </p:spTree>
    <p:extLst>
      <p:ext uri="{BB962C8B-B14F-4D97-AF65-F5344CB8AC3E}">
        <p14:creationId xmlns:p14="http://schemas.microsoft.com/office/powerpoint/2010/main" val="3362528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B3819-3F50-827D-BE26-5D8CEA28431A}"/>
              </a:ext>
            </a:extLst>
          </p:cNvPr>
          <p:cNvSpPr>
            <a:spLocks noGrp="1"/>
          </p:cNvSpPr>
          <p:nvPr>
            <p:ph type="title"/>
          </p:nvPr>
        </p:nvSpPr>
        <p:spPr/>
        <p:txBody>
          <a:bodyPr>
            <a:normAutofit/>
          </a:bodyPr>
          <a:lstStyle/>
          <a:p>
            <a:r>
              <a:rPr lang="en-US" sz="4400" b="1" dirty="0">
                <a:solidFill>
                  <a:schemeClr val="tx1"/>
                </a:solidFill>
              </a:rPr>
              <a:t>RESULTS </a:t>
            </a:r>
          </a:p>
        </p:txBody>
      </p:sp>
      <p:sp>
        <p:nvSpPr>
          <p:cNvPr id="3" name="Slide Number Placeholder 2">
            <a:extLst>
              <a:ext uri="{FF2B5EF4-FFF2-40B4-BE49-F238E27FC236}">
                <a16:creationId xmlns:a16="http://schemas.microsoft.com/office/drawing/2014/main" id="{CBCA7133-E7FF-93D1-D2A3-DE0B004D6EAB}"/>
              </a:ext>
            </a:extLst>
          </p:cNvPr>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5" name="Picture 4">
            <a:extLst>
              <a:ext uri="{FF2B5EF4-FFF2-40B4-BE49-F238E27FC236}">
                <a16:creationId xmlns:a16="http://schemas.microsoft.com/office/drawing/2014/main" id="{7A276AEF-4ABC-2FC2-4F66-55DB39FEB7B4}"/>
              </a:ext>
            </a:extLst>
          </p:cNvPr>
          <p:cNvPicPr>
            <a:picLocks noChangeAspect="1"/>
          </p:cNvPicPr>
          <p:nvPr/>
        </p:nvPicPr>
        <p:blipFill>
          <a:blip r:embed="rId2"/>
          <a:stretch>
            <a:fillRect/>
          </a:stretch>
        </p:blipFill>
        <p:spPr>
          <a:xfrm>
            <a:off x="471388" y="1610262"/>
            <a:ext cx="8000808" cy="3828377"/>
          </a:xfrm>
          <a:prstGeom prst="rect">
            <a:avLst/>
          </a:prstGeom>
        </p:spPr>
      </p:pic>
    </p:spTree>
    <p:extLst>
      <p:ext uri="{BB962C8B-B14F-4D97-AF65-F5344CB8AC3E}">
        <p14:creationId xmlns:p14="http://schemas.microsoft.com/office/powerpoint/2010/main" val="4279712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B80D0-F104-A1DC-C798-23ADB4A9D4A8}"/>
              </a:ext>
            </a:extLst>
          </p:cNvPr>
          <p:cNvSpPr>
            <a:spLocks noGrp="1"/>
          </p:cNvSpPr>
          <p:nvPr>
            <p:ph type="title"/>
          </p:nvPr>
        </p:nvSpPr>
        <p:spPr/>
        <p:txBody>
          <a:bodyPr>
            <a:normAutofit/>
          </a:bodyPr>
          <a:lstStyle/>
          <a:p>
            <a:r>
              <a:rPr lang="en-US" sz="4000" b="1" dirty="0">
                <a:solidFill>
                  <a:schemeClr val="tx1"/>
                </a:solidFill>
              </a:rPr>
              <a:t>RESULTS </a:t>
            </a:r>
            <a:endParaRPr lang="en-US" sz="4000" dirty="0"/>
          </a:p>
        </p:txBody>
      </p:sp>
      <p:sp>
        <p:nvSpPr>
          <p:cNvPr id="3" name="Slide Number Placeholder 2">
            <a:extLst>
              <a:ext uri="{FF2B5EF4-FFF2-40B4-BE49-F238E27FC236}">
                <a16:creationId xmlns:a16="http://schemas.microsoft.com/office/drawing/2014/main" id="{67F3CCDF-427F-97B8-6915-C0580BC795A7}"/>
              </a:ext>
            </a:extLst>
          </p:cNvPr>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5" name="Picture 4">
            <a:extLst>
              <a:ext uri="{FF2B5EF4-FFF2-40B4-BE49-F238E27FC236}">
                <a16:creationId xmlns:a16="http://schemas.microsoft.com/office/drawing/2014/main" id="{F406B498-4DB6-1921-F0A5-6C8624F1AEA8}"/>
              </a:ext>
            </a:extLst>
          </p:cNvPr>
          <p:cNvPicPr>
            <a:picLocks noChangeAspect="1"/>
          </p:cNvPicPr>
          <p:nvPr/>
        </p:nvPicPr>
        <p:blipFill>
          <a:blip r:embed="rId2"/>
          <a:stretch>
            <a:fillRect/>
          </a:stretch>
        </p:blipFill>
        <p:spPr>
          <a:xfrm>
            <a:off x="782058" y="1382921"/>
            <a:ext cx="7562772" cy="4243438"/>
          </a:xfrm>
          <a:prstGeom prst="rect">
            <a:avLst/>
          </a:prstGeom>
        </p:spPr>
      </p:pic>
    </p:spTree>
    <p:extLst>
      <p:ext uri="{BB962C8B-B14F-4D97-AF65-F5344CB8AC3E}">
        <p14:creationId xmlns:p14="http://schemas.microsoft.com/office/powerpoint/2010/main" val="3599416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6" y="370589"/>
            <a:ext cx="9839643" cy="5983558"/>
          </a:xfrm>
        </p:spPr>
        <p:txBody>
          <a:bodyPr>
            <a:normAutofit/>
          </a:bodyPr>
          <a:lstStyle/>
          <a:p>
            <a:r>
              <a:rPr lang="en-IN" sz="4000" dirty="0"/>
              <a:t>FUTURE SCOPE</a:t>
            </a:r>
            <a:br>
              <a:rPr lang="en-IN" sz="4000" dirty="0"/>
            </a:br>
            <a:r>
              <a:rPr lang="en-IN" sz="2000" dirty="0"/>
              <a:t> </a:t>
            </a:r>
            <a:br>
              <a:rPr lang="en-IN" sz="2000" dirty="0"/>
            </a:br>
            <a:r>
              <a:rPr lang="en-US" sz="2000" dirty="0"/>
              <a:t>Crop Yield Prediction</a:t>
            </a:r>
            <a:r>
              <a:rPr lang="en-US" sz="2000" b="0" dirty="0"/>
              <a:t> – Develop machine learning models to predict crop yield based on historical production, weather, soil, and seasonal data.</a:t>
            </a:r>
            <a:br>
              <a:rPr lang="en-US" sz="2000" b="0" dirty="0"/>
            </a:br>
            <a:r>
              <a:rPr lang="en-US" sz="2000" dirty="0"/>
              <a:t>Weather Integration</a:t>
            </a:r>
            <a:r>
              <a:rPr lang="en-US" sz="2000" b="0" dirty="0"/>
              <a:t> – Include real-time weather information such as rainfall, temperature, humidity, and drought conditions to improve analysis.</a:t>
            </a:r>
            <a:br>
              <a:rPr lang="en-US" sz="2000" b="0" dirty="0"/>
            </a:br>
            <a:r>
              <a:rPr lang="en-US" sz="2000" dirty="0"/>
              <a:t>Soil Analysis</a:t>
            </a:r>
            <a:r>
              <a:rPr lang="en-US" sz="2000" b="0" dirty="0"/>
              <a:t> – Incorporate soil properties such as pH, moisture, nutrients, and soil type to recommend suitable crops.</a:t>
            </a:r>
            <a:br>
              <a:rPr lang="en-US" sz="2000" b="0" dirty="0"/>
            </a:br>
            <a:r>
              <a:rPr lang="en-US" sz="2000" dirty="0"/>
              <a:t>Crop Recommendation System</a:t>
            </a:r>
            <a:r>
              <a:rPr lang="en-US" sz="2000" b="0" dirty="0"/>
              <a:t> – Build a system that recommends the most suitable crop for a particular region and season</a:t>
            </a:r>
            <a:br>
              <a:rPr lang="en-US" sz="2000" b="0" dirty="0"/>
            </a:br>
            <a:r>
              <a:rPr lang="en-US" sz="2200" dirty="0"/>
              <a:t>Climate Change Analysis</a:t>
            </a:r>
            <a:r>
              <a:rPr lang="en-US" sz="2200" b="0" dirty="0"/>
              <a:t> – Study how changing rainfall and temperature patterns affect seasonal crop productivity.</a:t>
            </a:r>
            <a:br>
              <a:rPr lang="en-US" sz="2200" b="0" dirty="0"/>
            </a:br>
            <a:r>
              <a:rPr lang="en-US" sz="2200" dirty="0"/>
              <a:t>Mobile Application</a:t>
            </a:r>
            <a:r>
              <a:rPr lang="en-US" sz="2200" b="0" dirty="0"/>
              <a:t> – Develop a mobile app that provides farmers with crop recommendations, seasonal insights, and performance predictions.</a:t>
            </a:r>
            <a:br>
              <a:rPr lang="en-US" sz="2200" b="0" dirty="0"/>
            </a:br>
            <a:r>
              <a:rPr lang="en-US" sz="2200" dirty="0"/>
              <a:t>Early Warning System</a:t>
            </a:r>
            <a:r>
              <a:rPr lang="en-US" sz="2200" b="0" dirty="0"/>
              <a:t> – Predict potential crop failures caused by drought, excessive rainfall, pests, or unfavorable weather conditions.</a:t>
            </a:r>
            <a:br>
              <a:rPr lang="en-US" sz="2200" b="0" dirty="0"/>
            </a:br>
            <a:endParaRPr lang="en-IN" sz="22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9737418" cy="538958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68312"/>
            <a:ext cx="7232875" cy="369332"/>
          </a:xfrm>
          <a:prstGeom prst="rect">
            <a:avLst/>
          </a:prstGeom>
          <a:noFill/>
        </p:spPr>
        <p:txBody>
          <a:bodyPr wrap="square">
            <a:spAutoFit/>
          </a:bodyPr>
          <a:lstStyle/>
          <a:p>
            <a:r>
              <a:rPr lang="en-US" dirty="0"/>
              <a:t>https://github.com/siya0510/MAJOR-PROJECT-.git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48182" y="17631"/>
            <a:ext cx="7395023" cy="904782"/>
          </a:xfrm>
        </p:spPr>
        <p:txBody>
          <a:bodyPr>
            <a:normAutofit fontScale="90000"/>
          </a:bodyPr>
          <a:lstStyle/>
          <a:p>
            <a:r>
              <a:rPr lang="en-IN" sz="3200" dirty="0"/>
              <a:t>VOIS Course completion certificate - </a:t>
            </a:r>
            <a:br>
              <a:rPr lang="en-IN" sz="3200" dirty="0"/>
            </a:br>
            <a:r>
              <a:rPr lang="en-IN" sz="3200" dirty="0"/>
              <a:t>Course name- </a:t>
            </a:r>
            <a:r>
              <a:rPr lang="en-IN" sz="3100" dirty="0"/>
              <a:t>Data</a:t>
            </a:r>
            <a:r>
              <a:rPr lang="en-IN" sz="3200" dirty="0"/>
              <a:t>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9AF6EB2-4DEB-A762-9AAC-7FD9FD508025}"/>
              </a:ext>
            </a:extLst>
          </p:cNvPr>
          <p:cNvPicPr>
            <a:picLocks noChangeAspect="1"/>
          </p:cNvPicPr>
          <p:nvPr/>
        </p:nvPicPr>
        <p:blipFill>
          <a:blip r:embed="rId3"/>
          <a:stretch>
            <a:fillRect/>
          </a:stretch>
        </p:blipFill>
        <p:spPr>
          <a:xfrm>
            <a:off x="160239" y="922414"/>
            <a:ext cx="11596331" cy="593558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1884784"/>
            <a:ext cx="11340000" cy="2249994"/>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1864</TotalTime>
  <Words>686</Words>
  <Application>Microsoft Office PowerPoint</Application>
  <PresentationFormat>Widescreen</PresentationFormat>
  <Paragraphs>43</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Seasonal Agriculture Performance Analysis is a data  analysis project designed to evaluate and understand agricultural performance across different seasons, crops, regions, and years. The project uses historical agricultural data such as crop production, cultivated area, yield, rainfall, temperature, and other relevant factors to identify patterns and trends in agricultural productivity. The analysis focuses on comparing crop performance across Kharif, Rabi, and other agricultural seasons, identifying high- and low-performing crops, and examining how climatic and regional factors influence production and yield. Data visualization techniques such as bar charts, line graphs, heatmaps, and interactive dashboards can be used to present the findings clearly. </vt:lpstr>
      <vt:lpstr>WHO ARE THE END USERS?</vt:lpstr>
      <vt:lpstr>Technology Used</vt:lpstr>
      <vt:lpstr>RESULTS </vt:lpstr>
      <vt:lpstr>RESULTS </vt:lpstr>
      <vt:lpstr>RESULTS </vt:lpstr>
      <vt:lpstr>RESULTS </vt:lpstr>
      <vt:lpstr>RESULTS </vt:lpstr>
      <vt:lpstr>RESULTS</vt:lpstr>
      <vt:lpstr>RESULTS </vt:lpstr>
      <vt:lpstr>RESULTS </vt:lpstr>
      <vt:lpstr>FUTURE SCOPE   Crop Yield Prediction – Develop machine learning models to predict crop yield based on historical production, weather, soil, and seasonal data. Weather Integration – Include real-time weather information such as rainfall, temperature, humidity, and drought conditions to improve analysis. Soil Analysis – Incorporate soil properties such as pH, moisture, nutrients, and soil type to recommend suitable crops. Crop Recommendation System – Build a system that recommends the most suitable crop for a particular region and season Climate Change Analysis – Study how changing rainfall and temperature patterns affect seasonal crop productivity. Mobile Application – Develop a mobile app that provides farmers with crop recommendations, seasonal insights, and performance predictions. Early Warning System – Predict potential crop failures caused by drought, excessive rainfall, pests, or unfavorable weather conditions.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sakshi sinha</cp:lastModifiedBy>
  <cp:revision>100</cp:revision>
  <dcterms:created xsi:type="dcterms:W3CDTF">2021-07-11T13:13:15Z</dcterms:created>
  <dcterms:modified xsi:type="dcterms:W3CDTF">2026-09-08T17:48:40Z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